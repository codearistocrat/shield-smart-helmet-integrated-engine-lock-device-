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6" r:id="rId3"/>
    <p:sldId id="258" r:id="rId4"/>
    <p:sldId id="293" r:id="rId5"/>
    <p:sldId id="257" r:id="rId6"/>
    <p:sldId id="285" r:id="rId7"/>
    <p:sldId id="272" r:id="rId8"/>
    <p:sldId id="265" r:id="rId9"/>
    <p:sldId id="269" r:id="rId10"/>
    <p:sldId id="273" r:id="rId11"/>
    <p:sldId id="280" r:id="rId12"/>
    <p:sldId id="291" r:id="rId13"/>
    <p:sldId id="271" r:id="rId14"/>
  </p:sldIdLst>
  <p:sldSz cx="12192000" cy="6858000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Price</a:t>
            </a:r>
            <a:r>
              <a:rPr lang="en-IN" baseline="0" dirty="0"/>
              <a:t> Comparison</a:t>
            </a:r>
            <a:endParaRPr lang="en-IN" dirty="0"/>
          </a:p>
        </c:rich>
      </c:tx>
      <c:layout>
        <c:manualLayout>
          <c:xMode val="edge"/>
          <c:yMode val="edge"/>
          <c:x val="0.36390035146044941"/>
          <c:y val="3.333181984125130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28888624186360623"/>
          <c:y val="0.10666993484684738"/>
          <c:w val="0.51678947095491601"/>
          <c:h val="0.58502653539476268"/>
        </c:manualLayout>
      </c:layout>
      <c:barChart>
        <c:barDir val="bar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Our Solution</c:v>
                </c:pt>
                <c:pt idx="1">
                  <c:v>Iot Based Smrt Helmet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8000</c:v>
                </c:pt>
                <c:pt idx="1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46-4531-8392-D2E4789E4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19389007"/>
        <c:axId val="419368367"/>
      </c:barChart>
      <c:catAx>
        <c:axId val="419389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368367"/>
        <c:crosses val="autoZero"/>
        <c:auto val="1"/>
        <c:lblAlgn val="ctr"/>
        <c:lblOffset val="100"/>
        <c:noMultiLvlLbl val="0"/>
      </c:catAx>
      <c:valAx>
        <c:axId val="419368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Price</a:t>
                </a:r>
                <a:r>
                  <a:rPr lang="en-US" baseline="0" dirty="0"/>
                  <a:t> in </a:t>
                </a:r>
                <a:r>
                  <a:rPr lang="en-IN" sz="1330" b="0" i="0" u="none" strike="noStrike" baseline="0" dirty="0"/>
                  <a:t>₹</a:t>
                </a:r>
                <a:r>
                  <a:rPr lang="en-US" baseline="0" dirty="0"/>
                  <a:t> 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389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A7D7730C-EECC-4332-9458-E899AC9696E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990A80CB-559E-44F2-800D-7D8285C1D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839D8BC-2EA7-4504-9F87-A3F4243E873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B2BBA12-4346-4203-A499-1B49DC8F9F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BA12-4346-4203-A499-1B49DC8F9FA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BA12-4346-4203-A499-1B49DC8F9FA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0E908-1DED-4BA6-B8DA-28D07B517C1F}" type="datetime9">
              <a:rPr lang="en-US" smtClean="0"/>
              <a:t>7/22/2025 12:11:33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9D58-C1E2-4D53-9164-BA922F42A954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267E-7F76-44E2-90C9-10B10321F6BB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0DCD-7C02-4234-9D92-896C3C96B401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E63C8-9321-49B1-A16A-DFB01DD76C49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80A9-2547-47C6-A42D-CBF41C8ABD18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02C9-54D5-43A0-AB6F-D83328735468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452A4-9225-4159-9BCE-C559E60FA98E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3509-3D60-4AB8-AF22-6D0D51A6A468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3C4-92C1-4A15-ACDE-9CD5A0DDBF07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BAD5-4BEA-4510-9A9D-CD26DBBF4F8A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33AE5-2521-49A5-9032-D591F78FBFE8}" type="datetime9">
              <a:rPr lang="en-US" smtClean="0"/>
              <a:t>7/22/2025 12:11:33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407" y="1335753"/>
            <a:ext cx="9890975" cy="2093247"/>
          </a:xfrm>
        </p:spPr>
        <p:txBody>
          <a:bodyPr>
            <a:normAutofit/>
          </a:bodyPr>
          <a:lstStyle/>
          <a:p>
            <a:r>
              <a:rPr lang="en-US" sz="4000" dirty="0"/>
              <a:t>SHIELD </a:t>
            </a:r>
            <a:br>
              <a:rPr lang="en-US" sz="4000" dirty="0"/>
            </a:br>
            <a:r>
              <a:rPr lang="en-US" sz="4000" dirty="0"/>
              <a:t>(Smart Helmet Integrated Engine Lock Device)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06" y="3304318"/>
            <a:ext cx="5962489" cy="2900539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Team Members 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Parikshit Kulkarni</a:t>
            </a:r>
          </a:p>
          <a:p>
            <a:r>
              <a:rPr lang="en-US" sz="2400" dirty="0">
                <a:solidFill>
                  <a:schemeClr val="tx1"/>
                </a:solidFill>
              </a:rPr>
              <a:t>Ved Kyada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Mahin Khokhar</a:t>
            </a:r>
          </a:p>
          <a:p>
            <a:r>
              <a:rPr lang="en-US" sz="2400" dirty="0">
                <a:solidFill>
                  <a:schemeClr val="tx1"/>
                </a:solidFill>
              </a:rPr>
              <a:t>Harsh Shah</a:t>
            </a:r>
          </a:p>
          <a:p>
            <a:r>
              <a:rPr lang="en-US" sz="2400" dirty="0">
                <a:solidFill>
                  <a:schemeClr val="tx1"/>
                </a:solidFill>
              </a:rPr>
              <a:t>Parth Koringa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01" y="-32038"/>
            <a:ext cx="2342250" cy="1918952"/>
          </a:xfrm>
          <a:prstGeom prst="rect">
            <a:avLst/>
          </a:prstGeom>
        </p:spPr>
      </p:pic>
      <p:pic>
        <p:nvPicPr>
          <p:cNvPr id="1026" name="Picture 2" descr="C:\Users\Tigs\Desktop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740" y="577060"/>
            <a:ext cx="1933575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545016" y="36719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/>
              <a:t>Mentor : </a:t>
            </a:r>
          </a:p>
          <a:p>
            <a:pPr algn="ctr"/>
            <a:r>
              <a:rPr lang="en-US" sz="2400" dirty="0"/>
              <a:t>Prof. (Dr).Rizwan Alad</a:t>
            </a:r>
          </a:p>
          <a:p>
            <a:pPr algn="ctr"/>
            <a:r>
              <a:rPr lang="en-US" sz="2400" dirty="0"/>
              <a:t>Faculty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5618" y="238637"/>
            <a:ext cx="9962325" cy="13896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Team Strength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5E6754-2131-3B05-BF3C-317823364704}"/>
              </a:ext>
            </a:extLst>
          </p:cNvPr>
          <p:cNvGrpSpPr/>
          <p:nvPr/>
        </p:nvGrpSpPr>
        <p:grpSpPr>
          <a:xfrm>
            <a:off x="65314" y="1418685"/>
            <a:ext cx="6559422" cy="1594669"/>
            <a:chOff x="0" y="0"/>
            <a:chExt cx="6523160" cy="159466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C56C874-82F4-4BC7-22AF-73C6AEF6E330}"/>
                </a:ext>
              </a:extLst>
            </p:cNvPr>
            <p:cNvSpPr/>
            <p:nvPr/>
          </p:nvSpPr>
          <p:spPr>
            <a:xfrm>
              <a:off x="0" y="0"/>
              <a:ext cx="6523159" cy="1594669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75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4F211CAB-AEF7-365A-D813-3B081BD36198}"/>
                </a:ext>
              </a:extLst>
            </p:cNvPr>
            <p:cNvSpPr txBox="1"/>
            <p:nvPr/>
          </p:nvSpPr>
          <p:spPr>
            <a:xfrm>
              <a:off x="64955" y="0"/>
              <a:ext cx="6458205" cy="15946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t" anchorCtr="0">
              <a:noAutofit/>
            </a:bodyPr>
            <a:lstStyle/>
            <a:p>
              <a:pPr marL="342900" lvl="0" indent="-3429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2300" kern="1200" dirty="0"/>
                <a:t>Parikshit Kulkarni</a:t>
              </a:r>
            </a:p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sz="2000" dirty="0"/>
                <a:t>Specializes in electronic circuit design and has successfully developed projects like a Maze Solver Robot and a Smart Air Purifier in competitions such as Eureka.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2000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818B10-8753-20A5-ED47-B4D1548AAC94}"/>
              </a:ext>
            </a:extLst>
          </p:cNvPr>
          <p:cNvSpPr/>
          <p:nvPr/>
        </p:nvSpPr>
        <p:spPr>
          <a:xfrm>
            <a:off x="65313" y="3195855"/>
            <a:ext cx="6559421" cy="1697444"/>
          </a:xfrm>
          <a:prstGeom prst="roundRect">
            <a:avLst>
              <a:gd name="adj" fmla="val 10000"/>
            </a:avLst>
          </a:prstGeom>
          <a:solidFill>
            <a:schemeClr val="accent4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Harsh &amp; Mahin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Harsh</a:t>
            </a:r>
            <a:r>
              <a:rPr lang="en-US" sz="2000" dirty="0"/>
              <a:t> and </a:t>
            </a:r>
            <a:r>
              <a:rPr lang="en-US" sz="2000" b="1" dirty="0"/>
              <a:t>Mahin</a:t>
            </a:r>
            <a:r>
              <a:rPr lang="en-US" sz="2000" dirty="0"/>
              <a:t> have strong skills in soldering and problem-solving. They have implemented practical projects like an Automatic Headlight Controller and RC Car.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69ADC4-84BF-3479-32B2-C04E99D26F62}"/>
              </a:ext>
            </a:extLst>
          </p:cNvPr>
          <p:cNvSpPr/>
          <p:nvPr/>
        </p:nvSpPr>
        <p:spPr>
          <a:xfrm>
            <a:off x="65312" y="5075800"/>
            <a:ext cx="6559421" cy="1697444"/>
          </a:xfrm>
          <a:prstGeom prst="roundRect">
            <a:avLst>
              <a:gd name="adj" fmla="val 10000"/>
            </a:avLst>
          </a:prstGeom>
          <a:solidFill>
            <a:schemeClr val="accent4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Ved &amp; Parth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Ved</a:t>
            </a:r>
            <a:r>
              <a:rPr lang="en-US" sz="2000" dirty="0"/>
              <a:t> and </a:t>
            </a:r>
            <a:r>
              <a:rPr lang="en-US" sz="2000" b="1" dirty="0"/>
              <a:t>Parth</a:t>
            </a:r>
            <a:r>
              <a:rPr lang="en-US" sz="2000" dirty="0"/>
              <a:t> both possess expertise in </a:t>
            </a:r>
            <a:r>
              <a:rPr lang="en-US" sz="2000" b="1" dirty="0"/>
              <a:t>PCB fabrication</a:t>
            </a:r>
            <a:r>
              <a:rPr lang="en-US" sz="2000" dirty="0"/>
              <a:t> and hands-on electronics work, contributing significantly to hardware integration in various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D16259-2BC4-3D8D-A109-55EDFC8929A3}"/>
              </a:ext>
            </a:extLst>
          </p:cNvPr>
          <p:cNvSpPr/>
          <p:nvPr/>
        </p:nvSpPr>
        <p:spPr>
          <a:xfrm>
            <a:off x="7620415" y="3176760"/>
            <a:ext cx="4332100" cy="1540128"/>
          </a:xfrm>
          <a:prstGeom prst="roundRect">
            <a:avLst>
              <a:gd name="adj" fmla="val 1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2">
              <a:hueOff val="4681519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295A6-10EE-F383-A624-A538FC12983E}"/>
              </a:ext>
            </a:extLst>
          </p:cNvPr>
          <p:cNvSpPr txBox="1"/>
          <p:nvPr/>
        </p:nvSpPr>
        <p:spPr>
          <a:xfrm>
            <a:off x="7659085" y="3176760"/>
            <a:ext cx="425475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These combined skills ensure a seamless development process in hardware-based projects—from circuit design and fabrication to assembly, troubleshooting, and final implementation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8862CC-D8FA-A92F-D64A-B900EFDBB85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624736" y="2216019"/>
            <a:ext cx="559835" cy="1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36BEFA-9212-9CB3-6CB6-BCD2023415CC}"/>
              </a:ext>
            </a:extLst>
          </p:cNvPr>
          <p:cNvCxnSpPr/>
          <p:nvPr/>
        </p:nvCxnSpPr>
        <p:spPr>
          <a:xfrm>
            <a:off x="7184571" y="2216019"/>
            <a:ext cx="0" cy="1828558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BD8EAE-CA18-CD03-09C1-89F8745F57D9}"/>
              </a:ext>
            </a:extLst>
          </p:cNvPr>
          <p:cNvCxnSpPr>
            <a:stCxn id="10" idx="3"/>
          </p:cNvCxnSpPr>
          <p:nvPr/>
        </p:nvCxnSpPr>
        <p:spPr>
          <a:xfrm>
            <a:off x="6624734" y="4044577"/>
            <a:ext cx="559837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0997E0-CF9C-D613-06DA-5F0B0F5F018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624733" y="5924522"/>
            <a:ext cx="559838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37E185-3282-8CA7-ABBB-F556308530C8}"/>
              </a:ext>
            </a:extLst>
          </p:cNvPr>
          <p:cNvCxnSpPr/>
          <p:nvPr/>
        </p:nvCxnSpPr>
        <p:spPr>
          <a:xfrm>
            <a:off x="7184571" y="4044577"/>
            <a:ext cx="0" cy="1879945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83C1FC-F5DB-DE8E-21B4-164B0183EC50}"/>
              </a:ext>
            </a:extLst>
          </p:cNvPr>
          <p:cNvCxnSpPr>
            <a:cxnSpLocks/>
          </p:cNvCxnSpPr>
          <p:nvPr/>
        </p:nvCxnSpPr>
        <p:spPr>
          <a:xfrm>
            <a:off x="7184571" y="4044577"/>
            <a:ext cx="4358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Brief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34889"/>
            <a:ext cx="10972800" cy="45259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 A smart ignition system that enhances two-wheeler safety by enforcing helmet use through NFC-based authentication, with secure emergency override and retrofit-friendly design.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Lack of an effective and affordable mechanism to enforce mandatory helmet usage, resulting in frequent safety violations and increased risk of head injuries.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Introduces NFC-based ignition control that mandates helmet use before starting the vehicle — a low-cost, retrofit-ready solution not present in existing systems.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Development of an </a:t>
            </a:r>
            <a:r>
              <a:rPr lang="en-US" b="1" dirty="0"/>
              <a:t>NFC-based ignition lock system</a:t>
            </a:r>
            <a:r>
              <a:rPr lang="en-US" dirty="0"/>
              <a:t> that enforces helmet use, with a </a:t>
            </a:r>
            <a:r>
              <a:rPr lang="en-US" b="1" dirty="0"/>
              <a:t>modular design</a:t>
            </a:r>
            <a:r>
              <a:rPr lang="en-US" dirty="0"/>
              <a:t>, </a:t>
            </a:r>
            <a:r>
              <a:rPr lang="en-US" b="1" dirty="0"/>
              <a:t>low cost</a:t>
            </a:r>
            <a:r>
              <a:rPr lang="en-US" dirty="0"/>
              <a:t>, and </a:t>
            </a:r>
            <a:r>
              <a:rPr lang="en-US" b="1" dirty="0"/>
              <a:t>secure emergency override</a:t>
            </a:r>
            <a:r>
              <a:rPr lang="en-US" dirty="0"/>
              <a:t>—features </a:t>
            </a:r>
            <a:r>
              <a:rPr lang="en-US" b="1" dirty="0"/>
              <a:t>not present in current solutions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lvl="1"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FC3702F-BEBE-9908-9705-278E74B2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Problem Identification</a:t>
            </a:r>
          </a:p>
        </p:txBody>
      </p:sp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544286" y="1497563"/>
            <a:ext cx="4400939" cy="6019800"/>
          </a:xfrm>
        </p:spPr>
        <p:txBody>
          <a:bodyPr>
            <a:norm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/>
              <a:t> </a:t>
            </a:r>
            <a:r>
              <a:rPr lang="en-US" sz="2500" dirty="0"/>
              <a:t>43,000+ people die annually in India due to not wearing helmets</a:t>
            </a:r>
            <a:r>
              <a:rPr lang="en-US" sz="2500" b="1" dirty="0"/>
              <a:t>                                </a:t>
            </a:r>
            <a:endParaRPr lang="en-US" sz="2500" dirty="0"/>
          </a:p>
          <a:p>
            <a:pPr algn="just">
              <a:lnSpc>
                <a:spcPct val="150000"/>
              </a:lnSpc>
            </a:pPr>
            <a:r>
              <a:rPr lang="en-US" sz="2500" dirty="0"/>
              <a:t>No system currently enforces helmet use before starting the vehicle.</a:t>
            </a:r>
            <a:endParaRPr lang="en-US" sz="2500" b="1" dirty="0"/>
          </a:p>
          <a:p>
            <a:pPr algn="just">
              <a:lnSpc>
                <a:spcPct val="150000"/>
              </a:lnSpc>
            </a:pPr>
            <a:r>
              <a:rPr lang="en-US" sz="2500" dirty="0"/>
              <a:t>Lack of awareness and enforcement leads to neglect of basic safety practices.</a:t>
            </a:r>
          </a:p>
          <a:p>
            <a:pPr lvl="1" algn="just">
              <a:lnSpc>
                <a:spcPct val="150000"/>
              </a:lnSpc>
            </a:pPr>
            <a:endParaRPr lang="en-US" sz="2500" dirty="0"/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4EE72A-3D0E-A517-7298-43BE6E1D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055" y="1822901"/>
            <a:ext cx="6565217" cy="387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3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Ensures rider safety by mandating helmet usage before vehicle ignition, reducing head injury risks.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Utilizes NFC-based authentication for a seamless and user-friendly experience.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Targets two-wheeler users, especially in urban and semi-urban areas, aiming to improve road safety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Market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24" y="1507509"/>
            <a:ext cx="6244852" cy="503140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Existing systems use cameras or Bluetooth, which reduce reliability and ease of use.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Our system uniquely combines NFC helmet authentication, ignition control, and secure override.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Compared to market solutions priced around ₹12,000–₹15,000, our system offers similar or better safety features under ₹8,000.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Few general NFC patents exist; none cover our specific helmet-integrated safety system</a:t>
            </a:r>
            <a:r>
              <a:rPr lang="en-US" sz="2000" dirty="0"/>
              <a:t>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5A60244-171E-5A75-87E8-D10E226722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5828717"/>
              </p:ext>
            </p:extLst>
          </p:nvPr>
        </p:nvGraphicFramePr>
        <p:xfrm>
          <a:off x="6550091" y="1919385"/>
          <a:ext cx="5401985" cy="4360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Current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36" y="1512517"/>
            <a:ext cx="11291928" cy="467420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project has been in development for 1 months, with the design finalization phase actively carried out over the past month, and the design now finalized.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system design has been finalized, and theoretical validation confirms functional feasibility; practical implementation and testing are yet to be initiated.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TRL 2 – Technology concept and application formulated; initial design finalized and theoretical feasibility established.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Proposed solution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3FD3B-8939-046F-FC72-4D911B2A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008" y="1373065"/>
            <a:ext cx="5361992" cy="47253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5FF3A9-E51B-9E68-8C45-8BE47E40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6" y="1435684"/>
            <a:ext cx="6908384" cy="513715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System Functionality:</a:t>
            </a:r>
            <a:endParaRPr lang="en-US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Two-wheeler starts only when the rider wears a helmet with an embedded NFC tag.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NFC reader near ignition verifies the helmet.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Optional fingerprint sensor or keypad override for added security.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Microcontroller processes inputs and activates a relay to enable ignition.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Prevents riding without a helmet, enhancing safety.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Benefits:</a:t>
            </a:r>
            <a:endParaRPr lang="en-US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Promotes road safety and reduces head injuries.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Affordable and easy to install.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Supports government safety initiatives.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Uses low-power components for energy efficiency and sustainability.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7666" y="408859"/>
            <a:ext cx="8596668" cy="948147"/>
          </a:xfrm>
        </p:spPr>
        <p:txBody>
          <a:bodyPr/>
          <a:lstStyle/>
          <a:p>
            <a:pPr algn="ctr"/>
            <a:r>
              <a:rPr lang="en-US" dirty="0"/>
              <a:t>Fund requirements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77335" y="1889755"/>
            <a:ext cx="8596668" cy="275258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Total cost (including consumables, non consumables, recurring and non recurring): 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RS.8000</a:t>
            </a: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4923C-AAD0-4108-BF51-C984DC524ACC}" type="datetime9">
              <a:rPr lang="en-US" smtClean="0"/>
              <a:t>7/22/2025 12:11:34 PM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1028" y="435176"/>
            <a:ext cx="8596668" cy="948147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4000" b="1" dirty="0"/>
              <a:t>Components</a:t>
            </a:r>
          </a:p>
        </p:txBody>
      </p:sp>
      <p:graphicFrame>
        <p:nvGraphicFramePr>
          <p:cNvPr id="6" name="Content Placeholder 7"/>
          <p:cNvGraphicFramePr/>
          <p:nvPr>
            <p:extLst>
              <p:ext uri="{D42A27DB-BD31-4B8C-83A1-F6EECF244321}">
                <p14:modId xmlns:p14="http://schemas.microsoft.com/office/powerpoint/2010/main" val="590774381"/>
              </p:ext>
            </p:extLst>
          </p:nvPr>
        </p:nvGraphicFramePr>
        <p:xfrm>
          <a:off x="298579" y="1600838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4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53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Component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Where</a:t>
                      </a:r>
                      <a:r>
                        <a:rPr lang="en-US" baseline="0" dirty="0"/>
                        <a:t> it will be used?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  <a:r>
                        <a:rPr lang="en-US" baseline="0" dirty="0"/>
                        <a:t> per Unit (INR)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Raspberry Pi 4 (4GB)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Core controller for entire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RC522 NFC Reader + NFC Tag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Helmet authentication via NFC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Helmet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Worn by rider and tagged with NFC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R307 Fingerprint Sensor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Fingerprint-based emergency override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4x4 Keypad + Buzzer + LCD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Emergency input, indication and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9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dirty="0"/>
                        <a:t>Relay Module + Wiring + Supply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Controls ignition, connection to system power &amp;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733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Total(A)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75257"/>
              </p:ext>
            </p:extLst>
          </p:nvPr>
        </p:nvGraphicFramePr>
        <p:xfrm>
          <a:off x="1453663" y="1512278"/>
          <a:ext cx="9086604" cy="5050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Expense Head (Mention whichever are applicable)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Give details of the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Consumables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Solder, zip ties, heat shrink, breadboard, extra jumpers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2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Minor works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Enclosure box, acrylic sheet, mounting hardware, ignition tap wiring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Professional services (from outside)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Mentoring services (from outside)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Patent filing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Any other (Pl. Specify)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58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Total(A)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1028" y="435176"/>
            <a:ext cx="8596668" cy="948147"/>
          </a:xfrm>
        </p:spPr>
        <p:txBody>
          <a:bodyPr>
            <a:normAutofit/>
          </a:bodyPr>
          <a:lstStyle/>
          <a:p>
            <a:r>
              <a:rPr lang="en-US" sz="4000" b="1" dirty="0"/>
              <a:t>Other Expenses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6236"/>
            <a:ext cx="10972800" cy="1143000"/>
          </a:xfrm>
        </p:spPr>
        <p:txBody>
          <a:bodyPr>
            <a:normAutofit/>
          </a:bodyPr>
          <a:lstStyle/>
          <a:p>
            <a:r>
              <a:rPr lang="en-IN" sz="4000" b="1" dirty="0"/>
              <a:t>Path forward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F7FCC-10B9-585C-F28E-1E70AEACC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454961"/>
            <a:ext cx="11144250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88609" y="2200902"/>
            <a:ext cx="8596668" cy="1826581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779</Words>
  <Application>Microsoft Office PowerPoint</Application>
  <PresentationFormat>Widescreen</PresentationFormat>
  <Paragraphs>124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SHIELD  (Smart Helmet Integrated Engine Lock Device)</vt:lpstr>
      <vt:lpstr>Team Strength</vt:lpstr>
      <vt:lpstr>Brief Description</vt:lpstr>
      <vt:lpstr>Problem Identification</vt:lpstr>
      <vt:lpstr>Value proposition</vt:lpstr>
      <vt:lpstr>Market Survey</vt:lpstr>
      <vt:lpstr>Current Stage</vt:lpstr>
      <vt:lpstr>Proposed solution </vt:lpstr>
      <vt:lpstr>Fund requirements</vt:lpstr>
      <vt:lpstr> Components</vt:lpstr>
      <vt:lpstr>Other Expenses </vt:lpstr>
      <vt:lpstr>Path forward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Automatic Drip Irrigation System</dc:title>
  <dc:creator>JAIMIK</dc:creator>
  <cp:lastModifiedBy>Parikshit Kulkarni</cp:lastModifiedBy>
  <cp:revision>116</cp:revision>
  <cp:lastPrinted>2018-10-24T05:07:00Z</cp:lastPrinted>
  <dcterms:created xsi:type="dcterms:W3CDTF">2015-08-01T08:48:00Z</dcterms:created>
  <dcterms:modified xsi:type="dcterms:W3CDTF">2025-07-22T08:43:14Z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2E333421EB2A47BBB1FE616F229E4DA8_12</vt:lpwstr>
  </property>
  <property fmtid="{D5CDD505-2E9C-101B-9397-08002B2CF9AE}" pid="3" name="KSOProductBuildVer">
    <vt:lpwstr>1033-12.2.0.21931</vt:lpwstr>
  </property>
</Properties>
</file>